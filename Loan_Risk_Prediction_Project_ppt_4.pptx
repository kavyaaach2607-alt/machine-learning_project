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42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18872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280160"/>
            <a:ext cx="8869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Multi-Class Loan Risk-Category Prediction Using Multinomial Logistic Regression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2918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BY: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7033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Kavya Sree - 2520030413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G. Neha Reddy - 2520030409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484632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Team: 20 |   Guide: Shaik Asif   |   KLH, CSE   |   ML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Banks need to know the risk level of a loan applicant before approving a loan; manual scoring and simple rule-based checks miss relationships between applicant details.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uses Multinomial Logistic Regression to predict a Low, Medium or High risk category instead of a simple Yes/No decision.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are applicant details: age, income, home ownership, employment length, loan intent, loan amount, interest rate, loan-to-income ratio, prior default flag and credit history length.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workflow covers data cleaning, encoding, scaling, a stratified train/test split, class-balanced training and L2 regularization.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evaluated with accuracy, precision, recall, F1-score and a confusion matrix, and its coefficients explain what drives risk.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88.6% test accuracy and macro F1 of 0.77 on a strongly imbalanced target.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675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097280"/>
            <a:ext cx="4114800" cy="5120640"/>
          </a:xfrm>
          <a:prstGeom prst="roundRect">
            <a:avLst>
              <a:gd name="adj" fmla="val 1778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25880"/>
            <a:ext cx="62179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Lenders need more than approve/reject: a borderline applicant and a very risky applicant call for different decisions.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 rely on manual scoring or binary models that give little explanation and no risk levels.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 mixes numeric and categorical features and has skewed values, outliers and missing entries.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risk classes are imbalanced: only 3.9% of applicants are High risk, so a plain model would ignore them.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828800"/>
            <a:ext cx="3749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each applicant as Low, Medium or High risk.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a probability for every class.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 the class imbalance.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which features raise or lower risk.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6692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53035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credit_risk_dataset.csv (Kaggle loan applicant data)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32,581 rows x 12 columns; 32,416 rows after removing 165 duplicates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person_emp_length: 895; loan_int_rate: 3,116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numeric and 3 categorical features, plus loan_grade and loan_status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Outliers: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 up to 144, employment length up to 123 years, income up to 6,000,000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5303520" cy="2214154"/>
          </a:xfrm>
          <a:prstGeom prst="rect">
            <a:avLst/>
          </a:prstGeom>
          <a:solidFill>
            <a:srgbClr val="F8FBFE"/>
          </a:solidFill>
          <a:ln w="19050">
            <a:solidFill>
              <a:srgbClr val="9FC5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92240" y="1097280"/>
            <a:ext cx="51206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80160"/>
          <a:ext cx="4754880" cy="3764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Column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person_age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person_income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person_emp_length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loan_amnt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loan_int_rate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loan_percent_income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cb_person_cred_hist_length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person_home_ownership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Categorical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loan_intent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Categorical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cb_person_default_on_file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Categorical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loan_grade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Categorical (target source)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loan_status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Binary (dropped)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FEBC8AA-247E-9D21-1BB6-8CE20270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5410200" cy="2011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 and Target Creation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8521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097280"/>
            <a:ext cx="4937760" cy="5120640"/>
          </a:xfrm>
          <a:prstGeom prst="roundRect">
            <a:avLst>
              <a:gd name="adj" fmla="val 1481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54864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removed, leaving 32,416 rows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Impossible values: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ages over 100 and 2 employment lengths over 60 set to missing, not dropped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Imputation: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filled with the median inside the pipeline, so no test-set leakage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 control: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loan_grade and loan_status dropped before training: the target is derived from the grade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Category Mapping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920240"/>
          <a:ext cx="4480560" cy="1280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 grade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 category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A, B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65.1%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C, 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31.0%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E, F, 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3.9%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858000" y="33832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target is strongly imbalanced, so class-balanced weights are used in training.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Results and Process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7607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539496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classes: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65.1%, Medium 31.0%, High 3.9%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Income and loan amount are right-skewed with a few extreme outliers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 with default: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Loan-to-income 0.38 and interest rate 0.34 are strongest; income is -0.15; credit history length is near zero (-0.02)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Loan-to-income ratio and interest rate are the main applicant-side risk drivers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Histograms, boxplots, categorical bars and a correlation heatmap on the cleaned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1097280"/>
            <a:ext cx="5074920" cy="5120640"/>
          </a:xfrm>
          <a:prstGeom prst="rect">
            <a:avLst/>
          </a:prstGeom>
          <a:solidFill>
            <a:srgbClr val="F8FBFE"/>
          </a:solidFill>
          <a:ln w="19050">
            <a:solidFill>
              <a:srgbClr val="9FC5E8"/>
            </a:solidFill>
            <a:prstDash val="dash"/>
          </a:ln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C2B24C-4431-4017-A5E5-D4DF15EC6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1" y="1244600"/>
            <a:ext cx="51054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Graphs Generated: EDA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52120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Category Distribution: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 of applicants per Low/Medium/High class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Numeric Histograms: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 and skew of the 7 numeric features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 Grade Counts: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applicants per grade A to G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Rate by Grade: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percent of defaults for each loan grade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Categorical Bars: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for home ownership, loan intent and prior default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Mix by Category: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stacked bars of risk class within each category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Boxplots: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outlier screening for numeric features; key features split by risk class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 Heatmap: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pairwise correlation of numeric features with loan status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Graphs Generated: Model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8407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24000"/>
            <a:ext cx="9611360" cy="4602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and row-normalised (recall) view of actual vs predicted risk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Per-Class Metrics: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precision, recall and F1-score for Low, Medium, High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Coefficients Heatmap: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coefficient of every feature for each class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vs Low Coefficients: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charts of feature effect on High-risk and Low-risk log-odds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Importance: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10 features, used for the future-scope comparison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One-Hot Encoding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text features become 9 binary columns: home ownership (3), loan intent (5), prior default (1). The first category of each is dropped to avoid redundant columns.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Median Imputation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Fills 895 missing employment lengths and 3,116 missing interest rates, fitted on training data only.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Scaling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numeric features scaled to mean 0 and unit variance so coefficients are comparable.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31920"/>
          <a:ext cx="5303520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loan_intent (before)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is_EDUCATION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is_MEDICAL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is_PERSONAL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EDUCATION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MEDICAL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77240" y="5212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7 numeric + 9 encoded = 16 model inputs.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and Classification Report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1206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47548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 are actual classes, columns are predicted; the diagonal shows correct predictions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applicants predicted as a class, the share that truly belong to it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applicants truly in a class, the share the model found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F1-score: </a:t>
            </a: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 of precision and recall; macro F1 averages the three classes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434840"/>
          <a:ext cx="4663440" cy="1158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0.954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0.858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0.766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0.392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0.535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" y="5623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88.6%  |  Macro F1 0.77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0" y="1097280"/>
            <a:ext cx="5669280" cy="2834640"/>
          </a:xfrm>
          <a:prstGeom prst="rect">
            <a:avLst/>
          </a:prstGeom>
          <a:solidFill>
            <a:srgbClr val="F8FBFE"/>
          </a:solidFill>
          <a:ln w="19050">
            <a:solidFill>
              <a:srgbClr val="9FC5E8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126480" y="1097280"/>
            <a:ext cx="51206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5CB07D-D9FF-1659-5A6C-AACAB740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35975"/>
            <a:ext cx="602766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88.6%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188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0.77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Macro F1-score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0972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1188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1920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High-risk recall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642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34640"/>
            <a:ext cx="61518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applicant gets a probability for Low, Medium and High risk; the highest is the predicted class.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finds 84% of truly High-risk applicants, but only 39% of its High flags are correct: the cost of class balancing on a 3.9% class.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Interpretation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3530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63320" y="1554480"/>
            <a:ext cx="837184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Interest rate: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strongest driver of High risk (odds ratio about 18 per standard deviation)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default on file: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raises High-risk odds about 11 times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Weaker effects: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 ownership "Other" and loan amount push risk up slightly; owning a home, personal and medical intents push it down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</a:t>
            </a: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loan-to-income ratio correlates most with default, but interest rate dominates because risk is derived from loan grade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 and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0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097280"/>
            <a:ext cx="5303520" cy="5120640"/>
          </a:xfrm>
          <a:prstGeom prst="roundRect">
            <a:avLst>
              <a:gd name="adj" fmla="val 1429"/>
            </a:avLst>
          </a:prstGeom>
          <a:solidFill>
            <a:srgbClr val="DCEBF7"/>
          </a:solidFill>
          <a:ln w="12700">
            <a:solidFill>
              <a:srgbClr val="9FC5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already reaches about 95% accuracy and macro F1 0.85 vs 88.6% and 0.77; try XGBoost too.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High-risk precision with resampling or threshold tuning.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feature importance to identify critical attributes.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as a web app for real-time risk prediction.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737360"/>
            <a:ext cx="4937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Multinomial Logistic Regression classifies applicants into Low, Medium and High risk with 88.6% accuracy.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probabilities and coefficients make it interpretable for lending decisions.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Interest rate and prior default are the strongest risk signals.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280160"/>
            <a:ext cx="2377440" cy="23774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5852160"/>
            <a:ext cx="2011680" cy="201168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2560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BD9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83280" y="25603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1295</Words>
  <Application>Microsoft Office PowerPoint</Application>
  <PresentationFormat>Widescreen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Neha Gottam</cp:lastModifiedBy>
  <cp:revision>3</cp:revision>
  <dcterms:created xsi:type="dcterms:W3CDTF">2026-09-29T05:48:13Z</dcterms:created>
  <dcterms:modified xsi:type="dcterms:W3CDTF">2026-09-29T09:16:00Z</dcterms:modified>
</cp:coreProperties>
</file>